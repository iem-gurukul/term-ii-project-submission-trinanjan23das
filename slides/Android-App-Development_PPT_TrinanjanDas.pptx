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3/26/2026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3/26/2026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6920B-647D-3577-E3DF-01388FBBF660}"/>
              </a:ext>
            </a:extLst>
          </p:cNvPr>
          <p:cNvSpPr>
            <a:spLocks noGrp="1"/>
          </p:cNvSpPr>
          <p:nvPr>
            <p:ph type="ctrTitle"/>
          </p:nvPr>
        </p:nvSpPr>
        <p:spPr>
          <a:xfrm>
            <a:off x="609601" y="353962"/>
            <a:ext cx="10445252" cy="2989768"/>
          </a:xfrm>
        </p:spPr>
        <p:txBody>
          <a:bodyPr>
            <a:normAutofit fontScale="90000"/>
          </a:bodyPr>
          <a:lstStyle/>
          <a:p>
            <a:r>
              <a:rPr lang="en-US" sz="4800" dirty="0"/>
              <a:t>Android app development: Design &amp; development of an android-based task Management application using object-oriented programming</a:t>
            </a:r>
            <a:endParaRPr lang="en-IN" sz="4800" dirty="0"/>
          </a:p>
        </p:txBody>
      </p:sp>
      <p:sp>
        <p:nvSpPr>
          <p:cNvPr id="3" name="Subtitle 2">
            <a:extLst>
              <a:ext uri="{FF2B5EF4-FFF2-40B4-BE49-F238E27FC236}">
                <a16:creationId xmlns:a16="http://schemas.microsoft.com/office/drawing/2014/main" id="{C4FD38AE-8838-9F3E-50F1-938574F4C7FD}"/>
              </a:ext>
            </a:extLst>
          </p:cNvPr>
          <p:cNvSpPr>
            <a:spLocks noGrp="1"/>
          </p:cNvSpPr>
          <p:nvPr>
            <p:ph type="subTitle" idx="1"/>
          </p:nvPr>
        </p:nvSpPr>
        <p:spPr>
          <a:xfrm>
            <a:off x="2133600" y="3514271"/>
            <a:ext cx="8921252" cy="2375252"/>
          </a:xfrm>
        </p:spPr>
        <p:txBody>
          <a:bodyPr>
            <a:normAutofit/>
          </a:bodyPr>
          <a:lstStyle/>
          <a:p>
            <a:r>
              <a:rPr lang="en-US" dirty="0"/>
              <a:t>                                          Submitted by : </a:t>
            </a:r>
          </a:p>
          <a:p>
            <a:r>
              <a:rPr lang="en-US" dirty="0"/>
              <a:t>                                Trinanjan das (12024052004027)</a:t>
            </a:r>
          </a:p>
          <a:p>
            <a:r>
              <a:rPr lang="en-US" dirty="0"/>
              <a:t>                           dept. : Information technology (I.t)</a:t>
            </a:r>
          </a:p>
          <a:p>
            <a:r>
              <a:rPr lang="en-US" dirty="0"/>
              <a:t>                  college : Institute of engineering &amp; management (iem)</a:t>
            </a:r>
          </a:p>
          <a:p>
            <a:r>
              <a:rPr lang="en-US" dirty="0"/>
              <a:t>         (affiliated to university of engineering &amp; Management (uem))                                         </a:t>
            </a:r>
            <a:endParaRPr lang="en-IN" dirty="0"/>
          </a:p>
        </p:txBody>
      </p:sp>
    </p:spTree>
    <p:extLst>
      <p:ext uri="{BB962C8B-B14F-4D97-AF65-F5344CB8AC3E}">
        <p14:creationId xmlns:p14="http://schemas.microsoft.com/office/powerpoint/2010/main" val="835279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3BF495-F7BD-0D5D-FB54-05528467DC72}"/>
              </a:ext>
            </a:extLst>
          </p:cNvPr>
          <p:cNvSpPr txBox="1"/>
          <p:nvPr/>
        </p:nvSpPr>
        <p:spPr>
          <a:xfrm>
            <a:off x="1061884" y="668594"/>
            <a:ext cx="8128819" cy="4401205"/>
          </a:xfrm>
          <a:prstGeom prst="rect">
            <a:avLst/>
          </a:prstGeom>
          <a:noFill/>
        </p:spPr>
        <p:txBody>
          <a:bodyPr wrap="square">
            <a:spAutoFit/>
          </a:bodyPr>
          <a:lstStyle/>
          <a:p>
            <a:pPr>
              <a:buNone/>
            </a:pPr>
            <a:r>
              <a:rPr lang="en-US" sz="2800" b="1" dirty="0"/>
              <a:t>Problem Statement </a:t>
            </a:r>
          </a:p>
          <a:p>
            <a:pPr>
              <a:buNone/>
            </a:pPr>
            <a:r>
              <a:rPr lang="en-US" sz="2800" dirty="0"/>
              <a:t>Managing daily tasks efficiently is a common challenge for individuals due to lack of proper organization tools. Traditional methods such as writing tasks on paper are inefficient and prone to loss or errors. This project aims to develop a simple and efficient task management application that allows users to digitally store, update, and manage their tasks. The application focuses on usability and structured design using Object-Oriented Programming principles.</a:t>
            </a:r>
          </a:p>
        </p:txBody>
      </p:sp>
    </p:spTree>
    <p:extLst>
      <p:ext uri="{BB962C8B-B14F-4D97-AF65-F5344CB8AC3E}">
        <p14:creationId xmlns:p14="http://schemas.microsoft.com/office/powerpoint/2010/main" val="2111544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71502D-A35D-4624-1BBC-20E9CE0A01CE}"/>
              </a:ext>
            </a:extLst>
          </p:cNvPr>
          <p:cNvSpPr txBox="1"/>
          <p:nvPr/>
        </p:nvSpPr>
        <p:spPr>
          <a:xfrm>
            <a:off x="422787" y="412955"/>
            <a:ext cx="8728587" cy="5262979"/>
          </a:xfrm>
          <a:prstGeom prst="rect">
            <a:avLst/>
          </a:prstGeom>
          <a:noFill/>
        </p:spPr>
        <p:txBody>
          <a:bodyPr wrap="square">
            <a:spAutoFit/>
          </a:bodyPr>
          <a:lstStyle/>
          <a:p>
            <a:pPr>
              <a:buNone/>
            </a:pPr>
            <a:r>
              <a:rPr lang="en-US" sz="2400" b="1" dirty="0"/>
              <a:t>Objectives</a:t>
            </a:r>
          </a:p>
          <a:p>
            <a:pPr>
              <a:buNone/>
            </a:pPr>
            <a:r>
              <a:rPr lang="en-US" sz="2400" dirty="0"/>
              <a:t>The primary objective of this project is to design and develop a Task Management Application that enables users to efficiently create, organize, update, and delete daily tasks in a structured digital environment. The project aims to apply core Object-Oriented Programming (OOP) concepts such as encapsulation, inheritance, abstraction, and polymorphism to build a modular and maintainable system. It also focuses on implementing CRUD operations using appropriate data structures like ArrayList to manage tasks dynamically. Additionally, the objective includes developing a user-friendly interface for smooth interaction, ensuring proper exception handling for reliability, and demonstrating how real-world problems can be solved using clean coding practices and logical program design.</a:t>
            </a:r>
          </a:p>
        </p:txBody>
      </p:sp>
    </p:spTree>
    <p:extLst>
      <p:ext uri="{BB962C8B-B14F-4D97-AF65-F5344CB8AC3E}">
        <p14:creationId xmlns:p14="http://schemas.microsoft.com/office/powerpoint/2010/main" val="329400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755ED8-094F-9959-77C3-69FB977A3E4F}"/>
              </a:ext>
            </a:extLst>
          </p:cNvPr>
          <p:cNvSpPr txBox="1"/>
          <p:nvPr/>
        </p:nvSpPr>
        <p:spPr>
          <a:xfrm>
            <a:off x="167149" y="235974"/>
            <a:ext cx="8630264" cy="5693866"/>
          </a:xfrm>
          <a:prstGeom prst="rect">
            <a:avLst/>
          </a:prstGeom>
          <a:noFill/>
        </p:spPr>
        <p:txBody>
          <a:bodyPr wrap="square">
            <a:spAutoFit/>
          </a:bodyPr>
          <a:lstStyle/>
          <a:p>
            <a:pPr>
              <a:buNone/>
            </a:pPr>
            <a:r>
              <a:rPr lang="en-US" sz="2800" b="1" dirty="0"/>
              <a:t>🛠️ Technologies Used</a:t>
            </a:r>
          </a:p>
          <a:p>
            <a:pPr>
              <a:buFont typeface="Arial" panose="020B0604020202020204" pitchFamily="34" charset="0"/>
              <a:buChar char="•"/>
            </a:pPr>
            <a:r>
              <a:rPr lang="en-US" sz="2800" b="1" dirty="0"/>
              <a:t>Java</a:t>
            </a:r>
            <a:br>
              <a:rPr lang="en-US" sz="2800" dirty="0"/>
            </a:br>
            <a:r>
              <a:rPr lang="en-US" sz="2800" dirty="0"/>
              <a:t>Core programming language used to implement application logic and OOP concepts </a:t>
            </a:r>
          </a:p>
          <a:p>
            <a:pPr>
              <a:buFont typeface="Arial" panose="020B0604020202020204" pitchFamily="34" charset="0"/>
              <a:buChar char="•"/>
            </a:pPr>
            <a:r>
              <a:rPr lang="en-US" sz="2400" b="1" dirty="0"/>
              <a:t>ArrayList</a:t>
            </a:r>
            <a:br>
              <a:rPr lang="en-US" sz="2800" dirty="0"/>
            </a:br>
            <a:r>
              <a:rPr lang="en-US" sz="2800" dirty="0"/>
              <a:t>Used to store and manage tasks dynamically </a:t>
            </a:r>
          </a:p>
          <a:p>
            <a:pPr>
              <a:buFont typeface="Arial" panose="020B0604020202020204" pitchFamily="34" charset="0"/>
              <a:buChar char="•"/>
            </a:pPr>
            <a:r>
              <a:rPr lang="en-US" sz="2800" b="1" dirty="0"/>
              <a:t>Visual Studio Code</a:t>
            </a:r>
            <a:br>
              <a:rPr lang="en-US" sz="2800" dirty="0"/>
            </a:br>
            <a:r>
              <a:rPr lang="en-US" sz="2800" dirty="0"/>
              <a:t>Code editor used for writing and managing the project </a:t>
            </a:r>
          </a:p>
          <a:p>
            <a:pPr>
              <a:buFont typeface="Arial" panose="020B0604020202020204" pitchFamily="34" charset="0"/>
              <a:buChar char="•"/>
            </a:pPr>
            <a:r>
              <a:rPr lang="en-US" sz="2800" b="1" dirty="0"/>
              <a:t>Git</a:t>
            </a:r>
            <a:br>
              <a:rPr lang="en-US" sz="2800" dirty="0"/>
            </a:br>
            <a:r>
              <a:rPr lang="en-US" sz="2800" dirty="0"/>
              <a:t>Version control system used to track changes and commits </a:t>
            </a:r>
          </a:p>
          <a:p>
            <a:pPr>
              <a:buFont typeface="Arial" panose="020B0604020202020204" pitchFamily="34" charset="0"/>
              <a:buChar char="•"/>
            </a:pPr>
            <a:r>
              <a:rPr lang="en-US" sz="2800" b="1" dirty="0"/>
              <a:t>GitHub</a:t>
            </a:r>
            <a:br>
              <a:rPr lang="en-US" sz="2800" dirty="0"/>
            </a:br>
            <a:r>
              <a:rPr lang="en-US" sz="2800" dirty="0"/>
              <a:t>Platform used to host and share the project online </a:t>
            </a:r>
          </a:p>
        </p:txBody>
      </p:sp>
    </p:spTree>
    <p:extLst>
      <p:ext uri="{BB962C8B-B14F-4D97-AF65-F5344CB8AC3E}">
        <p14:creationId xmlns:p14="http://schemas.microsoft.com/office/powerpoint/2010/main" val="432966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E31B3F-AB98-8E26-B963-9953E613FA7C}"/>
              </a:ext>
            </a:extLst>
          </p:cNvPr>
          <p:cNvSpPr txBox="1"/>
          <p:nvPr/>
        </p:nvSpPr>
        <p:spPr>
          <a:xfrm>
            <a:off x="373626" y="275304"/>
            <a:ext cx="8777748" cy="5262979"/>
          </a:xfrm>
          <a:prstGeom prst="rect">
            <a:avLst/>
          </a:prstGeom>
          <a:noFill/>
        </p:spPr>
        <p:txBody>
          <a:bodyPr wrap="square">
            <a:spAutoFit/>
          </a:bodyPr>
          <a:lstStyle/>
          <a:p>
            <a:pPr>
              <a:buNone/>
            </a:pPr>
            <a:r>
              <a:rPr lang="en-US" sz="2400" b="1" dirty="0"/>
              <a:t>🧠 OOP Concepts Used</a:t>
            </a:r>
          </a:p>
          <a:p>
            <a:pPr>
              <a:buFont typeface="Arial" panose="020B0604020202020204" pitchFamily="34" charset="0"/>
              <a:buChar char="•"/>
            </a:pPr>
            <a:r>
              <a:rPr lang="en-US" sz="2400" b="1" dirty="0"/>
              <a:t>Encapsulation</a:t>
            </a:r>
            <a:br>
              <a:rPr lang="en-US" sz="2400" dirty="0"/>
            </a:br>
            <a:r>
              <a:rPr lang="en-US" sz="2400" dirty="0"/>
              <a:t>Data and methods are combined inside the </a:t>
            </a:r>
            <a:r>
              <a:rPr lang="en-US" sz="2400" dirty="0">
                <a:latin typeface="Courier New" panose="02070309020205020404" pitchFamily="49" charset="0"/>
              </a:rPr>
              <a:t>Task</a:t>
            </a:r>
            <a:r>
              <a:rPr lang="en-US" sz="2400" dirty="0"/>
              <a:t> class using private variables </a:t>
            </a:r>
          </a:p>
          <a:p>
            <a:pPr>
              <a:buFont typeface="Arial" panose="020B0604020202020204" pitchFamily="34" charset="0"/>
              <a:buChar char="•"/>
            </a:pPr>
            <a:r>
              <a:rPr lang="en-US" sz="2400" b="1" dirty="0"/>
              <a:t>Abstraction</a:t>
            </a:r>
            <a:br>
              <a:rPr lang="en-US" sz="2400" dirty="0"/>
            </a:br>
            <a:r>
              <a:rPr lang="en-US" sz="2400" dirty="0"/>
              <a:t>Interface is used to define task operations without implementation details </a:t>
            </a:r>
          </a:p>
          <a:p>
            <a:pPr>
              <a:buFont typeface="Arial" panose="020B0604020202020204" pitchFamily="34" charset="0"/>
              <a:buChar char="•"/>
            </a:pPr>
            <a:r>
              <a:rPr lang="en-US" sz="2400" b="1" dirty="0"/>
              <a:t>Inheritance</a:t>
            </a:r>
            <a:br>
              <a:rPr lang="en-US" sz="2400" dirty="0"/>
            </a:br>
            <a:r>
              <a:rPr lang="en-US" sz="2400" dirty="0">
                <a:latin typeface="Courier New" panose="02070309020205020404" pitchFamily="49" charset="0"/>
              </a:rPr>
              <a:t>AdvancedTaskManager</a:t>
            </a:r>
            <a:r>
              <a:rPr lang="en-US" sz="2400" dirty="0"/>
              <a:t> extends </a:t>
            </a:r>
            <a:r>
              <a:rPr lang="en-US" sz="2400" dirty="0">
                <a:latin typeface="Courier New" panose="02070309020205020404" pitchFamily="49" charset="0"/>
              </a:rPr>
              <a:t>TaskManager</a:t>
            </a:r>
            <a:r>
              <a:rPr lang="en-US" sz="2400" dirty="0"/>
              <a:t> to reuse functionality </a:t>
            </a:r>
          </a:p>
          <a:p>
            <a:pPr>
              <a:buFont typeface="Arial" panose="020B0604020202020204" pitchFamily="34" charset="0"/>
              <a:buChar char="•"/>
            </a:pPr>
            <a:r>
              <a:rPr lang="en-US" sz="2400" b="1" dirty="0"/>
              <a:t>Polymorphism</a:t>
            </a:r>
            <a:br>
              <a:rPr lang="en-US" sz="2400" dirty="0"/>
            </a:br>
            <a:r>
              <a:rPr lang="en-US" sz="2400" dirty="0"/>
              <a:t>Methods are designed to perform different behaviors based on usage </a:t>
            </a:r>
          </a:p>
          <a:p>
            <a:pPr>
              <a:buFont typeface="Arial" panose="020B0604020202020204" pitchFamily="34" charset="0"/>
              <a:buChar char="•"/>
            </a:pPr>
            <a:r>
              <a:rPr lang="en-US" sz="2400" b="1" dirty="0"/>
              <a:t>Exception Handling</a:t>
            </a:r>
            <a:br>
              <a:rPr lang="en-US" sz="2400" dirty="0"/>
            </a:br>
            <a:r>
              <a:rPr lang="en-US" sz="2400" dirty="0"/>
              <a:t>Used to handle errors like invalid inputs or operations </a:t>
            </a:r>
          </a:p>
        </p:txBody>
      </p:sp>
    </p:spTree>
    <p:extLst>
      <p:ext uri="{BB962C8B-B14F-4D97-AF65-F5344CB8AC3E}">
        <p14:creationId xmlns:p14="http://schemas.microsoft.com/office/powerpoint/2010/main" val="172041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298FD2-5DE7-57C7-F108-8A88B1D1D428}"/>
              </a:ext>
            </a:extLst>
          </p:cNvPr>
          <p:cNvSpPr txBox="1"/>
          <p:nvPr/>
        </p:nvSpPr>
        <p:spPr>
          <a:xfrm>
            <a:off x="186813" y="147485"/>
            <a:ext cx="8964561" cy="6001643"/>
          </a:xfrm>
          <a:prstGeom prst="rect">
            <a:avLst/>
          </a:prstGeom>
          <a:noFill/>
        </p:spPr>
        <p:txBody>
          <a:bodyPr wrap="square">
            <a:spAutoFit/>
          </a:bodyPr>
          <a:lstStyle/>
          <a:p>
            <a:pPr>
              <a:buNone/>
            </a:pPr>
            <a:r>
              <a:rPr lang="en-US" sz="2400" b="1" dirty="0"/>
              <a:t>🧩 Task Class</a:t>
            </a:r>
          </a:p>
          <a:p>
            <a:pPr>
              <a:buNone/>
            </a:pPr>
            <a:r>
              <a:rPr lang="en-US" sz="2400" dirty="0"/>
              <a:t>The Task class represents the data model of the application and is responsible for storing individual task details such as title and description. It uses encapsulation by keeping variables private and providing public getter methods to access the data. This ensures data security and controlled access, making the code more organized and maintainable.</a:t>
            </a:r>
          </a:p>
          <a:p>
            <a:pPr>
              <a:buNone/>
            </a:pPr>
            <a:br>
              <a:rPr lang="en-US" sz="2400" dirty="0"/>
            </a:br>
            <a:endParaRPr lang="en-US" sz="2400" dirty="0"/>
          </a:p>
          <a:p>
            <a:pPr>
              <a:buNone/>
            </a:pPr>
            <a:r>
              <a:rPr lang="en-US" sz="2400" b="1" dirty="0"/>
              <a:t>⚙️ TaskManager Class</a:t>
            </a:r>
          </a:p>
          <a:p>
            <a:pPr>
              <a:buNone/>
            </a:pPr>
            <a:r>
              <a:rPr lang="en-US" sz="2400" dirty="0"/>
              <a:t>The TaskManager class handles the core functionality of the application by managing a collection of tasks using ArrayList. It provides methods to add, update, delete, and retrieve tasks, implementing the main business logic of the system. This separation of logic from the data model ensures modular design and makes the application scalable and easier to manage</a:t>
            </a:r>
            <a:r>
              <a:rPr lang="en-US" dirty="0"/>
              <a:t>.</a:t>
            </a:r>
          </a:p>
        </p:txBody>
      </p:sp>
    </p:spTree>
    <p:extLst>
      <p:ext uri="{BB962C8B-B14F-4D97-AF65-F5344CB8AC3E}">
        <p14:creationId xmlns:p14="http://schemas.microsoft.com/office/powerpoint/2010/main" val="3717533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DA8E5F-637A-CFAC-89A3-239702BFC29C}"/>
              </a:ext>
            </a:extLst>
          </p:cNvPr>
          <p:cNvSpPr txBox="1"/>
          <p:nvPr/>
        </p:nvSpPr>
        <p:spPr>
          <a:xfrm>
            <a:off x="245806" y="167149"/>
            <a:ext cx="8905568" cy="5262979"/>
          </a:xfrm>
          <a:prstGeom prst="rect">
            <a:avLst/>
          </a:prstGeom>
          <a:noFill/>
        </p:spPr>
        <p:txBody>
          <a:bodyPr wrap="square">
            <a:spAutoFit/>
          </a:bodyPr>
          <a:lstStyle/>
          <a:p>
            <a:pPr>
              <a:buNone/>
            </a:pPr>
            <a:r>
              <a:rPr lang="en-US" sz="2400" b="1" dirty="0"/>
              <a:t>🚀 Features </a:t>
            </a:r>
          </a:p>
          <a:p>
            <a:pPr marL="342900" indent="-342900">
              <a:buFont typeface="Arial" panose="020B0604020202020204" pitchFamily="34" charset="0"/>
              <a:buChar char="•"/>
            </a:pPr>
            <a:r>
              <a:rPr lang="en-US" sz="2400" b="1" dirty="0"/>
              <a:t>Add Task</a:t>
            </a:r>
            <a:br>
              <a:rPr lang="en-US" sz="2400" dirty="0"/>
            </a:br>
            <a:r>
              <a:rPr lang="en-US" sz="2400" dirty="0"/>
              <a:t>Allows users to create new tasks by entering details such as title and description, making it easy to store and organize new activities. </a:t>
            </a:r>
          </a:p>
          <a:p>
            <a:pPr marL="342900" indent="-342900">
              <a:buFont typeface="Arial" panose="020B0604020202020204" pitchFamily="34" charset="0"/>
              <a:buChar char="•"/>
            </a:pPr>
            <a:r>
              <a:rPr lang="en-US" sz="2400" b="1" dirty="0"/>
              <a:t>Update Task</a:t>
            </a:r>
            <a:br>
              <a:rPr lang="en-US" sz="2400" dirty="0"/>
            </a:br>
            <a:r>
              <a:rPr lang="en-US" sz="2400" dirty="0"/>
              <a:t>Enables users to modify the details of an existing task, such as changing the title or description, ensuring flexibility and accuracy. </a:t>
            </a:r>
          </a:p>
          <a:p>
            <a:pPr marL="342900" indent="-342900">
              <a:buFont typeface="Arial" panose="020B0604020202020204" pitchFamily="34" charset="0"/>
              <a:buChar char="•"/>
            </a:pPr>
            <a:r>
              <a:rPr lang="en-US" sz="2400" b="1" dirty="0"/>
              <a:t>Delete Task</a:t>
            </a:r>
            <a:br>
              <a:rPr lang="en-US" sz="2400" dirty="0"/>
            </a:br>
            <a:r>
              <a:rPr lang="en-US" sz="2400" dirty="0"/>
              <a:t>Allows users to remove tasks that are no longer required, helping keep the task list clean and up-to-date. </a:t>
            </a:r>
          </a:p>
          <a:p>
            <a:pPr marL="342900" indent="-342900">
              <a:buFont typeface="Arial" panose="020B0604020202020204" pitchFamily="34" charset="0"/>
              <a:buChar char="•"/>
            </a:pPr>
            <a:r>
              <a:rPr lang="en-US" sz="2400" b="1" dirty="0"/>
              <a:t>User-Friendly Interface</a:t>
            </a:r>
            <a:br>
              <a:rPr lang="en-US" sz="2400" dirty="0"/>
            </a:br>
            <a:r>
              <a:rPr lang="en-US" sz="2400" dirty="0"/>
              <a:t>The application is designed with simple logic and easy interaction, making it convenient for users to navigate and perform operations without complexity.</a:t>
            </a:r>
          </a:p>
        </p:txBody>
      </p:sp>
    </p:spTree>
    <p:extLst>
      <p:ext uri="{BB962C8B-B14F-4D97-AF65-F5344CB8AC3E}">
        <p14:creationId xmlns:p14="http://schemas.microsoft.com/office/powerpoint/2010/main" val="320183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B17A8A-4B25-EE85-8229-F71DF2956216}"/>
              </a:ext>
            </a:extLst>
          </p:cNvPr>
          <p:cNvSpPr txBox="1"/>
          <p:nvPr/>
        </p:nvSpPr>
        <p:spPr>
          <a:xfrm>
            <a:off x="324465" y="353962"/>
            <a:ext cx="4630993" cy="461665"/>
          </a:xfrm>
          <a:prstGeom prst="rect">
            <a:avLst/>
          </a:prstGeom>
          <a:noFill/>
        </p:spPr>
        <p:txBody>
          <a:bodyPr wrap="square">
            <a:spAutoFit/>
          </a:bodyPr>
          <a:lstStyle/>
          <a:p>
            <a:r>
              <a:rPr lang="en-IN" sz="2400" b="1" dirty="0"/>
              <a:t>Output / Screenshots</a:t>
            </a:r>
          </a:p>
        </p:txBody>
      </p:sp>
      <p:pic>
        <p:nvPicPr>
          <p:cNvPr id="5" name="Picture 4">
            <a:extLst>
              <a:ext uri="{FF2B5EF4-FFF2-40B4-BE49-F238E27FC236}">
                <a16:creationId xmlns:a16="http://schemas.microsoft.com/office/drawing/2014/main" id="{BB5FB3CA-D062-B877-F663-CB85A742EEA0}"/>
              </a:ext>
            </a:extLst>
          </p:cNvPr>
          <p:cNvPicPr>
            <a:picLocks noChangeAspect="1"/>
          </p:cNvPicPr>
          <p:nvPr/>
        </p:nvPicPr>
        <p:blipFill>
          <a:blip r:embed="rId2"/>
          <a:stretch>
            <a:fillRect/>
          </a:stretch>
        </p:blipFill>
        <p:spPr>
          <a:xfrm>
            <a:off x="0" y="1192617"/>
            <a:ext cx="4513006" cy="3143409"/>
          </a:xfrm>
          <a:prstGeom prst="rect">
            <a:avLst/>
          </a:prstGeom>
        </p:spPr>
      </p:pic>
      <p:pic>
        <p:nvPicPr>
          <p:cNvPr id="7" name="Picture 6">
            <a:extLst>
              <a:ext uri="{FF2B5EF4-FFF2-40B4-BE49-F238E27FC236}">
                <a16:creationId xmlns:a16="http://schemas.microsoft.com/office/drawing/2014/main" id="{08264BCD-63B5-D517-E6D4-6AB3DCD94776}"/>
              </a:ext>
            </a:extLst>
          </p:cNvPr>
          <p:cNvPicPr>
            <a:picLocks noChangeAspect="1"/>
          </p:cNvPicPr>
          <p:nvPr/>
        </p:nvPicPr>
        <p:blipFill>
          <a:blip r:embed="rId3"/>
          <a:stretch>
            <a:fillRect/>
          </a:stretch>
        </p:blipFill>
        <p:spPr>
          <a:xfrm>
            <a:off x="4857134" y="993059"/>
            <a:ext cx="5781369" cy="3441290"/>
          </a:xfrm>
          <a:prstGeom prst="rect">
            <a:avLst/>
          </a:prstGeom>
        </p:spPr>
      </p:pic>
    </p:spTree>
    <p:extLst>
      <p:ext uri="{BB962C8B-B14F-4D97-AF65-F5344CB8AC3E}">
        <p14:creationId xmlns:p14="http://schemas.microsoft.com/office/powerpoint/2010/main" val="79670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30A06C-0CAC-5A1E-77A1-27228A2B59F8}"/>
              </a:ext>
            </a:extLst>
          </p:cNvPr>
          <p:cNvSpPr txBox="1"/>
          <p:nvPr/>
        </p:nvSpPr>
        <p:spPr>
          <a:xfrm>
            <a:off x="206477" y="432619"/>
            <a:ext cx="8944897" cy="4031873"/>
          </a:xfrm>
          <a:prstGeom prst="rect">
            <a:avLst/>
          </a:prstGeom>
          <a:noFill/>
        </p:spPr>
        <p:txBody>
          <a:bodyPr wrap="square">
            <a:spAutoFit/>
          </a:bodyPr>
          <a:lstStyle/>
          <a:p>
            <a:pPr>
              <a:buNone/>
            </a:pPr>
            <a:r>
              <a:rPr lang="en-US" sz="3200" b="1" dirty="0"/>
              <a:t>Conclusion</a:t>
            </a:r>
          </a:p>
          <a:p>
            <a:pPr>
              <a:buFont typeface="Arial" panose="020B0604020202020204" pitchFamily="34" charset="0"/>
              <a:buChar char="•"/>
            </a:pPr>
            <a:r>
              <a:rPr lang="en-US" sz="3200" dirty="0"/>
              <a:t>Successfully developed a task management application </a:t>
            </a:r>
          </a:p>
          <a:p>
            <a:pPr>
              <a:buFont typeface="Arial" panose="020B0604020202020204" pitchFamily="34" charset="0"/>
              <a:buChar char="•"/>
            </a:pPr>
            <a:r>
              <a:rPr lang="en-US" sz="3200" dirty="0"/>
              <a:t>Implemented core OOP concepts effectively </a:t>
            </a:r>
          </a:p>
          <a:p>
            <a:pPr>
              <a:buFont typeface="Arial" panose="020B0604020202020204" pitchFamily="34" charset="0"/>
              <a:buChar char="•"/>
            </a:pPr>
            <a:r>
              <a:rPr lang="en-US" sz="3200" dirty="0"/>
              <a:t>Achieved CRUD operations for task handling </a:t>
            </a:r>
          </a:p>
          <a:p>
            <a:pPr>
              <a:buFont typeface="Arial" panose="020B0604020202020204" pitchFamily="34" charset="0"/>
              <a:buChar char="•"/>
            </a:pPr>
            <a:r>
              <a:rPr lang="en-US" sz="3200" dirty="0"/>
              <a:t>Demonstrated structured and modular design </a:t>
            </a:r>
          </a:p>
          <a:p>
            <a:pPr>
              <a:buFont typeface="Arial" panose="020B0604020202020204" pitchFamily="34" charset="0"/>
              <a:buChar char="•"/>
            </a:pPr>
            <a:r>
              <a:rPr lang="en-US" sz="3200" dirty="0"/>
              <a:t>Provides a simple and efficient solution for task management </a:t>
            </a:r>
          </a:p>
        </p:txBody>
      </p:sp>
    </p:spTree>
    <p:extLst>
      <p:ext uri="{BB962C8B-B14F-4D97-AF65-F5344CB8AC3E}">
        <p14:creationId xmlns:p14="http://schemas.microsoft.com/office/powerpoint/2010/main" val="2476161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BF12D-1349-2616-B79B-CD4C16C77C39}"/>
              </a:ext>
            </a:extLst>
          </p:cNvPr>
          <p:cNvSpPr txBox="1"/>
          <p:nvPr/>
        </p:nvSpPr>
        <p:spPr>
          <a:xfrm>
            <a:off x="324465" y="297792"/>
            <a:ext cx="5643716" cy="4832092"/>
          </a:xfrm>
          <a:prstGeom prst="rect">
            <a:avLst/>
          </a:prstGeom>
          <a:noFill/>
        </p:spPr>
        <p:txBody>
          <a:bodyPr wrap="square">
            <a:spAutoFit/>
          </a:bodyPr>
          <a:lstStyle/>
          <a:p>
            <a:pPr>
              <a:buNone/>
            </a:pPr>
            <a:r>
              <a:rPr lang="en-IN" sz="2800" b="1" dirty="0"/>
              <a:t>Future Scope</a:t>
            </a:r>
          </a:p>
          <a:p>
            <a:pPr>
              <a:buFont typeface="Arial" panose="020B0604020202020204" pitchFamily="34" charset="0"/>
              <a:buChar char="•"/>
            </a:pPr>
            <a:r>
              <a:rPr lang="en-IN" sz="2800" dirty="0"/>
              <a:t>Develop full Android mobile application </a:t>
            </a:r>
          </a:p>
          <a:p>
            <a:pPr>
              <a:buFont typeface="Arial" panose="020B0604020202020204" pitchFamily="34" charset="0"/>
              <a:buChar char="•"/>
            </a:pPr>
            <a:r>
              <a:rPr lang="en-IN" sz="2800" dirty="0"/>
              <a:t>Add user authentication (login/signup) </a:t>
            </a:r>
          </a:p>
          <a:p>
            <a:pPr>
              <a:buFont typeface="Arial" panose="020B0604020202020204" pitchFamily="34" charset="0"/>
              <a:buChar char="•"/>
            </a:pPr>
            <a:r>
              <a:rPr lang="en-IN" sz="2800" dirty="0"/>
              <a:t>Implement notifications and reminders </a:t>
            </a:r>
          </a:p>
          <a:p>
            <a:pPr>
              <a:buFont typeface="Arial" panose="020B0604020202020204" pitchFamily="34" charset="0"/>
              <a:buChar char="•"/>
            </a:pPr>
            <a:r>
              <a:rPr lang="en-IN" sz="2800" dirty="0"/>
              <a:t>Integrate cloud storage for data backup </a:t>
            </a:r>
          </a:p>
          <a:p>
            <a:pPr>
              <a:buFont typeface="Arial" panose="020B0604020202020204" pitchFamily="34" charset="0"/>
              <a:buChar char="•"/>
            </a:pPr>
            <a:r>
              <a:rPr lang="en-IN" sz="2800" dirty="0"/>
              <a:t>Enhance UI/UX for better user experience </a:t>
            </a:r>
          </a:p>
        </p:txBody>
      </p:sp>
    </p:spTree>
    <p:extLst>
      <p:ext uri="{BB962C8B-B14F-4D97-AF65-F5344CB8AC3E}">
        <p14:creationId xmlns:p14="http://schemas.microsoft.com/office/powerpoint/2010/main" val="78710603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{4EE96CD2-3BCB-4764-A0F0-317CC3FD6226}TFc986dd65-aaf0-4d5c-bef9-9c391ee05f7b738e0fce-4a319d133af4</Template>
  <TotalTime>84</TotalTime>
  <Words>682</Words>
  <Application>Microsoft Office PowerPoint</Application>
  <PresentationFormat>Widescreen</PresentationFormat>
  <Paragraphs>45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Courier New</vt:lpstr>
      <vt:lpstr>Gill Sans MT</vt:lpstr>
      <vt:lpstr>Gallery</vt:lpstr>
      <vt:lpstr>Android app development: Design &amp; development of an android-based task Management application using object-oriented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Trinanjan Das</dc:creator>
  <cp:lastModifiedBy>Trinanjan Das</cp:lastModifiedBy>
  <cp:revision>1</cp:revision>
  <dcterms:created xsi:type="dcterms:W3CDTF">2026-03-26T13:49:06Z</dcterms:created>
  <dcterms:modified xsi:type="dcterms:W3CDTF">2026-03-26T15:13:29Z</dcterms:modified>
</cp:coreProperties>
</file>